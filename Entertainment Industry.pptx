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1"/>
  </p:notesMasterIdLst>
  <p:handoutMasterIdLst>
    <p:handoutMasterId r:id="rId12"/>
  </p:handoutMasterIdLst>
  <p:sldIdLst>
    <p:sldId id="312" r:id="rId5"/>
    <p:sldId id="304" r:id="rId6"/>
    <p:sldId id="307" r:id="rId7"/>
    <p:sldId id="281" r:id="rId8"/>
    <p:sldId id="323" r:id="rId9"/>
    <p:sldId id="297" r:id="rId1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68" d="100"/>
          <a:sy n="68" d="100"/>
        </p:scale>
        <p:origin x="616" y="6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2024</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65231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sz="2000" dirty="0"/>
              <a:t>the Role of the Media and Entertainment Industry in Reducing Stress</a:t>
            </a:r>
            <a:br>
              <a:rPr lang="en-US" sz="2400" dirty="0"/>
            </a:br>
            <a:br>
              <a:rPr lang="en-US" sz="2400" dirty="0"/>
            </a:br>
            <a:r>
              <a:rPr lang="en-US" sz="1200" dirty="0"/>
              <a:t>How Film, Television, Radio, and Print Help Us Relax</a:t>
            </a:r>
            <a:endParaRPr lang="en-US" sz="2400"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Introduction</a:t>
            </a:r>
            <a:br>
              <a:rPr lang="en-US" dirty="0"/>
            </a:b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476422"/>
            <a:ext cx="6583680" cy="3207344"/>
          </a:xfrm>
        </p:spPr>
        <p:txBody>
          <a:bodyPr>
            <a:normAutofit fontScale="47500" lnSpcReduction="20000"/>
          </a:bodyPr>
          <a:lstStyle/>
          <a:p>
            <a:r>
              <a:rPr lang="en-US" dirty="0"/>
              <a:t>In our fast-paced, demanding world, stress has become an all-too-familiar companion. We all need ways to unwind and find moments of relaxation amidst the chaos of daily life. One of the most effective ways to achieve this is through entertainment.</a:t>
            </a:r>
          </a:p>
          <a:p>
            <a:r>
              <a:rPr lang="en-US" dirty="0"/>
              <a:t>The media and entertainment industry plays a crucial role in providing that much-needed escape. This industry is vast and multifaceted, encompassing various forms of entertainment that cater to diverse tastes and preferences. From the mesmerizing stories on the big screen to the engaging series on our televisions, the soothing sounds of radio, and the captivating narratives in books and magazines, entertainment is an integral part of our lives.</a:t>
            </a:r>
          </a:p>
          <a:p>
            <a:r>
              <a:rPr lang="en-US" dirty="0"/>
              <a:t>Today, we will explore how the different segments of the media and entertainment industry—film, television, radio, and print—contribute to reducing stress and enriching our lives. We will delve into the roles of major media companies, the economic impact of this industry, and the emerging trends shaping its future. Let's embark on this journey to understand the significance of entertainment in helping us navigate the challenges of everyday life.</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838210" y="118943"/>
            <a:ext cx="6967184" cy="6008480"/>
          </a:xfrm>
        </p:spPr>
        <p:txBody>
          <a:bodyPr/>
          <a:lstStyle/>
          <a:p>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Data Overview and Structure:</a:t>
            </a:r>
            <a:b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Entertainer - Basic Info: This file contains the name, gender, and birth year of 	entertainers.</a:t>
            </a: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Entertainer - Breakthrough Info: (To be reviewed) Expected to contain details on 		the breakthrough events or milestones in the entertainers' careers.</a:t>
            </a: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Entertainer - Last work Info: (To be reviewed) Expected to contain information 		about the latest works of these entertainers.</a:t>
            </a: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Analysis Goals:</a:t>
            </a:r>
            <a:b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Demographics: Analyze the distribution of entertainers by gender and birth year.</a:t>
            </a: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Career Milestones: Identify key breakthrough events for different entertainers 	       	and any common trends.</a:t>
            </a: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Recent Works: Assess the latest contributions of entertainers to the industry and 		their impact.</a:t>
            </a: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Data Analysis Steps:</a:t>
            </a:r>
            <a:br>
              <a:rPr lang="en-US" sz="1000" b="1" dirty="0">
                <a:solidFill>
                  <a:schemeClr val="tx1"/>
                </a:solidFill>
              </a:rPr>
            </a:br>
            <a:br>
              <a:rPr lang="en-US" sz="1000" dirty="0">
                <a:solidFill>
                  <a:schemeClr val="tx1"/>
                </a:solidFill>
              </a:rPr>
            </a:br>
            <a:r>
              <a:rPr lang="en-US" sz="1000" dirty="0">
                <a:solidFill>
                  <a:schemeClr val="tx1"/>
                </a:solidFill>
              </a:rPr>
              <a:t>	</a:t>
            </a: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Data Cleaning and Preparation: Ensure the data from all files is consistent and 	properly formatted.</a:t>
            </a: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Descriptive Statistics: Provide summary statistics for age distribution, gender 	representation, etc.</a:t>
            </a: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Trend Analysis: Examine the breakthrough events and recent works to identify 	trends in the 	entertainment industry.</a:t>
            </a:r>
            <a:b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Visualization: Use charts and graphs to illustrate key findings.</a:t>
            </a:r>
            <a:br>
              <a:rPr lang="en-US" sz="1000" dirty="0"/>
            </a:br>
            <a:endParaRPr lang="en-US" sz="9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584462" y="1897040"/>
            <a:ext cx="5259554" cy="2495028"/>
          </a:xfrm>
        </p:spPr>
        <p:txBody>
          <a:bodyPr/>
          <a:lstStyle/>
          <a:p>
            <a:r>
              <a:rPr lang="en-IN" sz="4000" b="1" i="0" u="none" strike="noStrike" dirty="0">
                <a:effectLst/>
                <a:latin typeface="Arial" panose="020B0604020202020204" pitchFamily="34" charset="0"/>
              </a:rPr>
              <a:t>Main KPIs</a:t>
            </a:r>
            <a:br>
              <a:rPr lang="en-IN" sz="4000" b="1" i="0" u="none" strike="noStrike" dirty="0">
                <a:effectLst/>
                <a:latin typeface="Arial" panose="020B0604020202020204" pitchFamily="34" charset="0"/>
              </a:rPr>
            </a:br>
            <a:br>
              <a:rPr lang="en-IN" sz="4000" b="1" i="0" u="none" strike="noStrike" dirty="0">
                <a:effectLst/>
                <a:latin typeface="Arial" panose="020B0604020202020204" pitchFamily="34" charset="0"/>
              </a:rPr>
            </a:br>
            <a:r>
              <a:rPr lang="en-IN" sz="2000" dirty="0">
                <a:solidFill>
                  <a:schemeClr val="tx1"/>
                </a:solidFill>
              </a:rPr>
              <a:t>Demographics Analysis</a:t>
            </a:r>
            <a:br>
              <a:rPr lang="en-IN" sz="2000" dirty="0">
                <a:solidFill>
                  <a:schemeClr val="tx1"/>
                </a:solidFill>
              </a:rPr>
            </a:br>
            <a:r>
              <a:rPr lang="en-IN" sz="2000" dirty="0">
                <a:solidFill>
                  <a:schemeClr val="tx1"/>
                </a:solidFill>
              </a:rPr>
              <a:t>Career Milestones	</a:t>
            </a:r>
            <a:br>
              <a:rPr lang="en-IN" sz="2000" dirty="0">
                <a:solidFill>
                  <a:schemeClr val="tx1"/>
                </a:solidFill>
              </a:rPr>
            </a:br>
            <a:r>
              <a:rPr lang="en-IN" sz="2000" dirty="0">
                <a:solidFill>
                  <a:schemeClr val="tx1"/>
                </a:solidFill>
              </a:rPr>
              <a:t>Recent Works</a:t>
            </a:r>
            <a:br>
              <a:rPr lang="en-IN" sz="4000" b="1" i="0" u="none" strike="noStrike" dirty="0">
                <a:solidFill>
                  <a:schemeClr val="tx1"/>
                </a:solidFill>
                <a:effectLst/>
                <a:latin typeface="Arial" panose="020B0604020202020204" pitchFamily="34" charset="0"/>
              </a:rPr>
            </a:br>
            <a:endParaRPr lang="en-US" sz="6600" dirty="0">
              <a:solidFill>
                <a:schemeClr val="tx1"/>
              </a:solidFill>
            </a:endParaRP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836446" y="-176857"/>
            <a:ext cx="5259554" cy="2495028"/>
          </a:xfrm>
        </p:spPr>
        <p:txBody>
          <a:bodyPr/>
          <a:lstStyle/>
          <a:p>
            <a:r>
              <a:rPr lang="en-IN" sz="4000" b="1" i="0" u="none" strike="noStrike" dirty="0">
                <a:effectLst/>
                <a:latin typeface="Arial" panose="020B0604020202020204" pitchFamily="34" charset="0"/>
              </a:rPr>
              <a:t>My Design</a:t>
            </a:r>
            <a:br>
              <a:rPr lang="en-IN" sz="4000" b="1" i="0" u="none" strike="noStrike" dirty="0">
                <a:effectLst/>
                <a:latin typeface="Arial" panose="020B0604020202020204" pitchFamily="34" charset="0"/>
              </a:rPr>
            </a:br>
            <a:endParaRPr lang="en-US" sz="6600" dirty="0">
              <a:solidFill>
                <a:schemeClr val="tx1"/>
              </a:solidFill>
            </a:endParaRPr>
          </a:p>
        </p:txBody>
      </p:sp>
      <p:pic>
        <p:nvPicPr>
          <p:cNvPr id="4" name="Picture 3">
            <a:extLst>
              <a:ext uri="{FF2B5EF4-FFF2-40B4-BE49-F238E27FC236}">
                <a16:creationId xmlns:a16="http://schemas.microsoft.com/office/drawing/2014/main" id="{BD40F60E-83A1-10AC-BC32-018977EF5140}"/>
              </a:ext>
            </a:extLst>
          </p:cNvPr>
          <p:cNvPicPr>
            <a:picLocks noChangeAspect="1"/>
          </p:cNvPicPr>
          <p:nvPr/>
        </p:nvPicPr>
        <p:blipFill>
          <a:blip r:embed="rId3"/>
          <a:stretch>
            <a:fillRect/>
          </a:stretch>
        </p:blipFill>
        <p:spPr>
          <a:xfrm>
            <a:off x="6560401" y="4358741"/>
            <a:ext cx="4099624" cy="2254241"/>
          </a:xfrm>
          <a:prstGeom prst="rect">
            <a:avLst/>
          </a:prstGeom>
        </p:spPr>
      </p:pic>
      <p:pic>
        <p:nvPicPr>
          <p:cNvPr id="6" name="Picture 5">
            <a:extLst>
              <a:ext uri="{FF2B5EF4-FFF2-40B4-BE49-F238E27FC236}">
                <a16:creationId xmlns:a16="http://schemas.microsoft.com/office/drawing/2014/main" id="{06FD5E3F-C95D-809B-D1E5-04E342A259F7}"/>
              </a:ext>
            </a:extLst>
          </p:cNvPr>
          <p:cNvPicPr>
            <a:picLocks noChangeAspect="1"/>
          </p:cNvPicPr>
          <p:nvPr/>
        </p:nvPicPr>
        <p:blipFill>
          <a:blip r:embed="rId4"/>
          <a:stretch>
            <a:fillRect/>
          </a:stretch>
        </p:blipFill>
        <p:spPr>
          <a:xfrm>
            <a:off x="6560401" y="1573095"/>
            <a:ext cx="4308982" cy="2418540"/>
          </a:xfrm>
          <a:prstGeom prst="rect">
            <a:avLst/>
          </a:prstGeom>
        </p:spPr>
      </p:pic>
      <p:pic>
        <p:nvPicPr>
          <p:cNvPr id="8" name="Picture 7">
            <a:extLst>
              <a:ext uri="{FF2B5EF4-FFF2-40B4-BE49-F238E27FC236}">
                <a16:creationId xmlns:a16="http://schemas.microsoft.com/office/drawing/2014/main" id="{D14CD142-F63C-4CFB-2D9E-DE83DCAB3B51}"/>
              </a:ext>
            </a:extLst>
          </p:cNvPr>
          <p:cNvPicPr>
            <a:picLocks noChangeAspect="1"/>
          </p:cNvPicPr>
          <p:nvPr/>
        </p:nvPicPr>
        <p:blipFill>
          <a:blip r:embed="rId5"/>
          <a:stretch>
            <a:fillRect/>
          </a:stretch>
        </p:blipFill>
        <p:spPr>
          <a:xfrm>
            <a:off x="1667152" y="4227716"/>
            <a:ext cx="4105529" cy="2516292"/>
          </a:xfrm>
          <a:prstGeom prst="rect">
            <a:avLst/>
          </a:prstGeom>
        </p:spPr>
      </p:pic>
      <p:pic>
        <p:nvPicPr>
          <p:cNvPr id="10" name="Picture 9">
            <a:extLst>
              <a:ext uri="{FF2B5EF4-FFF2-40B4-BE49-F238E27FC236}">
                <a16:creationId xmlns:a16="http://schemas.microsoft.com/office/drawing/2014/main" id="{EE286C68-413C-6B85-B65A-BFDEE69DF2CC}"/>
              </a:ext>
            </a:extLst>
          </p:cNvPr>
          <p:cNvPicPr>
            <a:picLocks noChangeAspect="1"/>
          </p:cNvPicPr>
          <p:nvPr/>
        </p:nvPicPr>
        <p:blipFill>
          <a:blip r:embed="rId6"/>
          <a:stretch>
            <a:fillRect/>
          </a:stretch>
        </p:blipFill>
        <p:spPr>
          <a:xfrm>
            <a:off x="1667152" y="1545226"/>
            <a:ext cx="3895071" cy="2474278"/>
          </a:xfrm>
          <a:prstGeom prst="rect">
            <a:avLst/>
          </a:prstGeom>
        </p:spPr>
      </p:pic>
    </p:spTree>
    <p:extLst>
      <p:ext uri="{BB962C8B-B14F-4D97-AF65-F5344CB8AC3E}">
        <p14:creationId xmlns:p14="http://schemas.microsoft.com/office/powerpoint/2010/main" val="3729189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sz="6600" dirty="0"/>
              <a:t>Thank </a:t>
            </a:r>
            <a:br>
              <a:rPr lang="en-US" sz="6600" dirty="0"/>
            </a:br>
            <a:r>
              <a:rPr lang="en-US" sz="6600" dirty="0"/>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{731871DB-9FF1-46ED-ACD1-69CD3442B69E}tf78438558_win32</Template>
  <TotalTime>14</TotalTime>
  <Words>476</Words>
  <Application>Microsoft Office PowerPoint</Application>
  <PresentationFormat>Widescreen</PresentationFormat>
  <Paragraphs>10</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Black</vt:lpstr>
      <vt:lpstr>Calibri</vt:lpstr>
      <vt:lpstr>Sabon Next LT</vt:lpstr>
      <vt:lpstr>Custom</vt:lpstr>
      <vt:lpstr>the Role of the Media and Entertainment Industry in Reducing Stress  How Film, Television, Radio, and Print Help Us Relax</vt:lpstr>
      <vt:lpstr>Introduction </vt:lpstr>
      <vt:lpstr>Data Overview and Structure:   Entertainer - Basic Info: This file contains the name, gender, and birth year of  entertainers.  Entertainer - Breakthrough Info: (To be reviewed) Expected to contain details on   the breakthrough events or milestones in the entertainers' careers.  Entertainer - Last work Info: (To be reviewed) Expected to contain information   about the latest works of these entertainers.  Analysis Goals:   Demographics: Analyze the distribution of entertainers by gender and birth year.  Career Milestones: Identify key breakthrough events for different entertainers          and any common trends.  Recent Works: Assess the latest contributions of entertainers to the industry and   their impact.  Data Analysis Steps:   Data Cleaning and Preparation: Ensure the data from all files is consistent and  properly formatted.  Descriptive Statistics: Provide summary statistics for age distribution, gender  representation, etc.  Trend Analysis: Examine the breakthrough events and recent works to identify  trends in the  entertainment industry.  Visualization: Use charts and graphs to illustrate key findings. </vt:lpstr>
      <vt:lpstr>Main KPIs  Demographics Analysis Career Milestones  Recent Works </vt:lpstr>
      <vt:lpstr>My Design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Mohammad Ayan Sheikh</dc:creator>
  <cp:lastModifiedBy>Mohammad Ayan Sheikh</cp:lastModifiedBy>
  <cp:revision>1</cp:revision>
  <dcterms:created xsi:type="dcterms:W3CDTF">2024-07-21T17:44:11Z</dcterms:created>
  <dcterms:modified xsi:type="dcterms:W3CDTF">2024-07-21T17:58:25Z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